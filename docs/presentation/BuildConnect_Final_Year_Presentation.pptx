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3840480"/>
          </a:xfrm>
          <a:prstGeom prst="rect">
            <a:avLst/>
          </a:prstGeom>
          <a:solidFill>
            <a:srgbClr val="FFA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AA16"/>
                </a:solidFill>
              </a:defRPr>
            </a:pPr>
            <a:r>
              <a:t>FINAL YEAR ENGINEERING PROJECT DEFENSE</a:t>
            </a:r>
          </a:p>
          <a:p>
            <a:pPr>
              <a:spcAft>
                <a:spcPts val="1000"/>
              </a:spcAft>
              <a:defRPr sz="4600" b="1">
                <a:solidFill>
                  <a:srgbClr val="FFFFFF"/>
                </a:solidFill>
              </a:defRPr>
            </a:pPr>
            <a:r>
              <a:t>BuildConnect 🏗️</a:t>
            </a:r>
          </a:p>
          <a:p>
            <a:pPr>
              <a:spcAft>
                <a:spcPts val="2400"/>
              </a:spcAft>
              <a:defRPr sz="2200" b="1">
                <a:solidFill>
                  <a:srgbClr val="FFCC66"/>
                </a:solidFill>
              </a:defRPr>
            </a:pPr>
            <a:r>
              <a:t>Centralized Construction Workforce &amp; Project Management Platform</a:t>
            </a:r>
          </a:p>
          <a:p>
            <a:pPr>
              <a:spcAft>
                <a:spcPts val="3600"/>
              </a:spcAft>
              <a:defRPr sz="1400">
                <a:solidFill>
                  <a:srgbClr val="A0AEC0"/>
                </a:solidFill>
              </a:defRPr>
            </a:pPr>
            <a:r>
              <a:t>A Unified Full-Stack Platform Connecting Contractors, Construction Workers, Real Estate Clients, and System Administrators.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937760"/>
            <a:ext cx="10058400" cy="118872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5029200"/>
            <a:ext cx="9692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Project Architecture: Native PHP 8.x | MySQL 8.0 (29 Tables, 100% Prepared PDO) | HTML5 / CSS3 / ES6 / Leaflet</a:t>
            </a:r>
          </a:p>
          <a:p>
            <a:pPr>
              <a:defRPr sz="1100">
                <a:solidFill>
                  <a:srgbClr val="FFAA16"/>
                </a:solidFill>
              </a:defRPr>
            </a:pPr>
            <a:r>
              <a:t>Target Roles: System Administrator | General Contractor | Skilled Worker | Real Estate Client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AA16"/>
                </a:solidFill>
              </a:defRPr>
            </a:pPr>
            <a:r>
              <a:t>CONTEXT &amp; INDUSTRY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Introduction &amp; Industry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2D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EC0"/>
                </a:solidFill>
              </a:defRPr>
            </a:pPr>
            <a:r>
              <a:t>02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The Construction Sector Reality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t>• Massive Economic Pillar: </a:t>
            </a:r>
          </a:p>
          <a:p>
            <a:pPr>
              <a:spcAft>
                <a:spcPts val="1000"/>
              </a:spcAft>
              <a:defRPr sz="1100">
                <a:solidFill>
                  <a:srgbClr val="A0AEC0"/>
                </a:solidFill>
              </a:defRPr>
            </a:pPr>
            <a:r>
              <a:t>  Construction represents one of the largest global employers, driving urban infrastructure in hubs like Ahmedabad and metropolitan regions.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t>• Decentralized Job Sites: </a:t>
            </a:r>
          </a:p>
          <a:p>
            <a:pPr>
              <a:spcAft>
                <a:spcPts val="1000"/>
              </a:spcAft>
              <a:defRPr sz="1100">
                <a:solidFill>
                  <a:srgbClr val="A0AEC0"/>
                </a:solidFill>
              </a:defRPr>
            </a:pPr>
            <a:r>
              <a:t>  A single contracting firm frequently oversees 5 to 20 concurrent sites with rotating daily-wage and contractual trade labor.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t>• Persistent Informality: </a:t>
            </a:r>
          </a:p>
          <a:p>
            <a:pPr>
              <a:spcAft>
                <a:spcPts val="1000"/>
              </a:spcAft>
              <a:defRPr sz="1100">
                <a:solidFill>
                  <a:srgbClr val="A0AEC0"/>
                </a:solidFill>
              </a:defRPr>
            </a:pPr>
            <a:r>
              <a:t>  Workforce hiring, daily wage agreements, site attendance, and milestone verification remain largely informal, verbal, and paper-based.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t>• Need for Digital Trust: </a:t>
            </a:r>
          </a:p>
          <a:p>
            <a:pPr>
              <a:spcAft>
                <a:spcPts val="1000"/>
              </a:spcAft>
              <a:defRPr sz="1100">
                <a:solidFill>
                  <a:srgbClr val="A0AEC0"/>
                </a:solidFill>
              </a:defRPr>
            </a:pPr>
            <a:r>
              <a:t>  Bridging the divide between property owners, general contractors, and trade labor requires a transparent, auditable digital backbone.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645920"/>
            <a:ext cx="5120640" cy="457200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8135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Why BuildConnect?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300" b="1">
                <a:solidFill>
                  <a:srgbClr val="FFAA16"/>
                </a:solidFill>
              </a:defRPr>
            </a:pPr>
            <a:r>
              <a:t>✔ Unified Stakeholder Ecosystem: </a:t>
            </a:r>
          </a:p>
          <a:p>
            <a:pPr>
              <a:spcAft>
                <a:spcPts val="1000"/>
              </a:spcAft>
              <a:defRPr sz="1100">
                <a:solidFill>
                  <a:srgbClr val="A0AEC0"/>
                </a:solidFill>
              </a:defRPr>
            </a:pPr>
            <a:r>
              <a:t>  Brings all four key players into one platform with strict role isolation and contextual dashboards.</a:t>
            </a:r>
          </a:p>
          <a:p>
            <a:pPr>
              <a:spcAft>
                <a:spcPts val="200"/>
              </a:spcAft>
              <a:defRPr sz="1300" b="1">
                <a:solidFill>
                  <a:srgbClr val="FFAA16"/>
                </a:solidFill>
              </a:defRPr>
            </a:pPr>
            <a:r>
              <a:t>✔ Instant &amp; Quotation Bidding: </a:t>
            </a:r>
          </a:p>
          <a:p>
            <a:pPr>
              <a:spcAft>
                <a:spcPts val="1000"/>
              </a:spcAft>
              <a:defRPr sz="1100">
                <a:solidFill>
                  <a:srgbClr val="A0AEC0"/>
                </a:solidFill>
              </a:defRPr>
            </a:pPr>
            <a:r>
              <a:t>  Solves both urgent minor repairs (plumbing bursts) and multi-lakh construction contracts in a single engine.</a:t>
            </a:r>
          </a:p>
          <a:p>
            <a:pPr>
              <a:spcAft>
                <a:spcPts val="200"/>
              </a:spcAft>
              <a:defRPr sz="1300" b="1">
                <a:solidFill>
                  <a:srgbClr val="FFAA16"/>
                </a:solidFill>
              </a:defRPr>
            </a:pPr>
            <a:r>
              <a:t>✔ Tokenized Site QR Attendance: </a:t>
            </a:r>
          </a:p>
          <a:p>
            <a:pPr>
              <a:spcAft>
                <a:spcPts val="1000"/>
              </a:spcAft>
              <a:defRPr sz="1100">
                <a:solidFill>
                  <a:srgbClr val="A0AEC0"/>
                </a:solidFill>
              </a:defRPr>
            </a:pPr>
            <a:r>
              <a:t>  Replaces vulnerable paper muster rolls with dynamic, cryptographic check-in sessions tied directly to projects.</a:t>
            </a:r>
          </a:p>
          <a:p>
            <a:pPr>
              <a:spcAft>
                <a:spcPts val="200"/>
              </a:spcAft>
              <a:defRPr sz="1300" b="1">
                <a:solidFill>
                  <a:srgbClr val="FFAA16"/>
                </a:solidFill>
              </a:defRPr>
            </a:pPr>
            <a:r>
              <a:t>✔ Digital Contracts &amp; Ratings: </a:t>
            </a:r>
          </a:p>
          <a:p>
            <a:pPr>
              <a:spcAft>
                <a:spcPts val="1000"/>
              </a:spcAft>
              <a:defRPr sz="1100">
                <a:solidFill>
                  <a:srgbClr val="A0AEC0"/>
                </a:solidFill>
              </a:defRPr>
            </a:pPr>
            <a:r>
              <a:t>  Formalizes pay terms and electronic signatures while establishing immutable performance ratings.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AA16"/>
                </a:solidFill>
              </a:defRPr>
            </a:pPr>
            <a:r>
              <a:t>CURRENT INDUSTRY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Statement: 5 Core Bottlenecks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2D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EC0"/>
                </a:solidFill>
              </a:defRPr>
            </a:pPr>
            <a:r>
              <a:t>03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82296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AA16"/>
                </a:solidFill>
              </a:defRPr>
            </a:pPr>
            <a:r>
              <a:t>1. Unverified Labor Credentials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Contractors hire trade labor based on word-of-mouth without verified trade licenses, safety certificates, or government ID validation. → Impact: Results in site accidents, severe structural defects, and legal liability for contractors.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42032"/>
            <a:ext cx="10728655" cy="82296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AA16"/>
                </a:solidFill>
              </a:defRPr>
            </a:pPr>
            <a:r>
              <a:t>2. Attendance &amp; Timecard Fraud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Manual paper attendance rosters enable 'buddy punching' and falsified work hours across remote job sites. → Impact: Causes 15% to 25% inflated labor billing and ongoing contractor-client payment disputes.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38144"/>
            <a:ext cx="10728655" cy="82296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29584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AA16"/>
                </a:solidFill>
              </a:defRPr>
            </a:pPr>
            <a:r>
              <a:t>3. Informal Contracts &amp; Scope Creep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Agreements are drafted on ad-hoc notes or verbal promises lacking binding terms, rates, or electronic signatures. → Impact: Leads to frequent worker wage theft, contractor abandonment, and delayed litigation.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34256"/>
            <a:ext cx="10728655" cy="82296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25696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AA16"/>
                </a:solidFill>
              </a:defRPr>
            </a:pPr>
            <a:r>
              <a:t>4. Zero Client Milestone Transparency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Property developers and clients rely on sporadic phone updates without real-time milestone percentage views. → Impact: Produces cost overruns, uncoordinated material deliveries, and stalled capital releases.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30368"/>
            <a:ext cx="10728655" cy="82296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21808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AA16"/>
                </a:solidFill>
              </a:defRPr>
            </a:pPr>
            <a:r>
              <a:t>5. Fragmented Small vs Large Job Handling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Small repairs lack instant geolocation matching, while major projects lack structured multi-bid comparison. → Impact: High emergency repair costs for clients and lost daily-wage opportunities for local workers.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AA16"/>
                </a:solidFill>
              </a:defRPr>
            </a:pPr>
            <a:r>
              <a:t>ENGINEERING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Project Objectives &amp; Measurable Goals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2D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EC0"/>
                </a:solidFill>
              </a:defRPr>
            </a:pPr>
            <a:r>
              <a:t>04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57800" cy="137160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🎯 Eliminate Timecard Fraud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Deploy tokenized, dynamic QR code attendance sessions generated per project with timestamped check-in/out and exact hour logging.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5257800" cy="137160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🎯 Standardize Trade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Implement an administrative document verification queue validating government IDs and trade certifications with verified badge display.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5257800" cy="137160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3756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🎯 Dual Booking Engine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749040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Build Mode A (Instant Dispatch using Haversine proximity &amp; atomic locking) and Mode B (Competitive Multi-Quote Comparison).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154680"/>
            <a:ext cx="5257800" cy="137160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🎯 Legally Structured Digital Contracts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49040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Formalize contracts with predefined terms, hourly/daily/fixed wage rates, and tracked electronic signatures.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63440"/>
            <a:ext cx="5257800" cy="137160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84632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🎯 Interactive Geospatial 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257800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Integrate Leaflet.js rendering project sites, worker service radiuses, and geographic coordinates centered on real Indian regions (Ahmedabad).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663440"/>
            <a:ext cx="5257800" cy="137160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84632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🎯 100% Secure Enterprise Standards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257800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Guarantee zero SQL injection (100% prepared PDO statements), CSRF token enforcement, BCrypt hashing, and strict RBAC.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AA16"/>
                </a:solidFill>
              </a:defRPr>
            </a:pPr>
            <a:r>
              <a:t>CENTRAL DIGITAL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Proposed Solution: BuildConnect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2D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EC0"/>
                </a:solidFill>
              </a:defRPr>
            </a:pPr>
            <a:r>
              <a:t>05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System Administrator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 b="1">
                <a:solidFill>
                  <a:srgbClr val="FFFFFF"/>
                </a:solidFill>
              </a:defRPr>
            </a:pPr>
            <a:r>
              <a:t>Platform Governance &amp; Compliance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User account management &amp; suspension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Worker identity document verification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Global audit logging &amp; reports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Dispute moderation &amp; oversight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645920"/>
            <a:ext cx="2560320" cy="466344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General Contractor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19456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 b="1">
                <a:solidFill>
                  <a:srgbClr val="FFFFFF"/>
                </a:solidFill>
              </a:defRPr>
            </a:pPr>
            <a:r>
              <a:t>Workforce &amp; Site Management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Multi-project &amp; milestone tracking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Job marketplace postings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Candidate evaluation &amp; 1-click hire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Dynamic QR attendance generator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Binding digital contract issuance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2560320" cy="466344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Skilled Worker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219456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 b="1">
                <a:solidFill>
                  <a:srgbClr val="FFFFFF"/>
                </a:solidFill>
              </a:defRPr>
            </a:pPr>
            <a:r>
              <a:t>Professional Trade Lifecycle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Trade skill matrix (27 skills)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Identity &amp; certificate portfolio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Browse &amp; apply for site jobs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Mobile QR code attendance scan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Instant emergency dispatch claims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645920"/>
            <a:ext cx="2560320" cy="466344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Real Estate 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3416" y="219456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 b="1">
                <a:solidFill>
                  <a:srgbClr val="FFFFFF"/>
                </a:solidFill>
              </a:defRPr>
            </a:pPr>
            <a:r>
              <a:t>Transparency &amp; Service Access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Real-time milestone progress tracking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Mode A: Instant emergency repair dispatch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Mode B: Compare competitive contractor quotes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Interactive site coordinate maps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Two-way star ratings &amp; reviews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AA16"/>
                </a:solidFill>
              </a:defRPr>
            </a:pPr>
            <a:r>
              <a:t>SOFTWARE ENVIRONMENT &amp; LIBRARIES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Full-Stack Technology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2D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EC0"/>
                </a:solidFill>
              </a:defRPr>
            </a:pPr>
            <a:r>
              <a:t>06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210312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Backend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PHP 8.1 / 8.2 Native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Zero heavyweight framework overhead; high execution speed; native session and JSON handling; modular directory architecture.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74720" cy="210312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Database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40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MySQL 8.0 / MariaDB 10.4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InnoDB engine enforcing ACID transactions, row-level locks (SELECT ... FOR UPDATE), foreign keys, and utf8mb4 collation.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474720" cy="210312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Database Connectivity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240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PHP Data Objects (PDO)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100% prepared statements with parameterized inputs. Zero dynamic string concatenation, eliminating SQL Injection entirely.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474720" cy="210312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Frontend &amp; Styling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26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HTML5 + Custom CSS3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Semantic markup powered by custom CSS variable design tokens (--bc-navy, --bc-amber) ensuring consistent industrial theme.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931920"/>
            <a:ext cx="3474720" cy="210312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UI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526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Bootstrap 5.3 + FontAwesome 6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Responsive 12-column grid system, accessible offcanvas drawers, responsive cards, and 2,000+ vector trade icons.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0" y="3931920"/>
            <a:ext cx="3474720" cy="210312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Geospatial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526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Leaflet.js + OpenStreetMap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Lightweight interactive maps rendering construction sites, worker locations, coordinates, and matching radius circles.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AA16"/>
                </a:solidFill>
              </a:defRPr>
            </a:pPr>
            <a:r>
              <a:t>STRUCTURAL LAYER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Architecture: 3-Tier Layered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2D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EC0"/>
                </a:solidFill>
              </a:defRPr>
            </a:pPr>
            <a:r>
              <a:t>07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AA16"/>
                </a:solidFill>
              </a:defRPr>
            </a:pPr>
            <a:r>
              <a:t>Tier 1: Presentation Layer — Web Browser Clients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HTML5 Semantic Views | CSS3 Custom Tokens | Bootstrap 5.3 Grid | JavaScript ES6 Fetch API | Leaflet.js Mapping Visualizer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10728655" cy="105156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AA16"/>
                </a:solidFill>
              </a:defRPr>
            </a:pPr>
            <a:r>
              <a:t>Security &amp; Routing Gateway — Application Security Boundary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Central URL Dispatcher | Session Fixation Guard | 64-char CSRF Token Engine | Role-Based Access Control (RBAC) | HTTP 403 Containment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4164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AA16"/>
                </a:solidFill>
              </a:defRPr>
            </a:pPr>
            <a:r>
              <a:t>Tier 2: Business Logic Controllers — Modular PHP Controller Layer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admin/ (19 files) | contractor/ (34 files) | worker/ (27 files) | client/ (22 files) | api/ (5 files) | Dual Booking Engine | QR Attendance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74920"/>
            <a:ext cx="10728655" cy="105156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8464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AA16"/>
                </a:solidFill>
              </a:defRPr>
            </a:pPr>
            <a:r>
              <a:t>Tier 3: Data Persistence Tier — Relational Database &amp; Storage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MySQL 8.0 InnoDB (29 Tables) via PDO Prepared Statements | Atomic Transactions | Hardened File Sandbox (/uploads) with .htaccess Execution Blocking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AA16"/>
                </a:solidFill>
              </a:defRPr>
            </a:pPr>
            <a:r>
              <a:t>STRICT SERVER-SIDE AUTHORIZATION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Role-Based Access Control (RBAC)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2D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EC0"/>
                </a:solidFill>
              </a:defRPr>
            </a:pPr>
            <a:r>
              <a:t>08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455"/>
                <a:gridCol w="1828800"/>
                <a:gridCol w="1828800"/>
                <a:gridCol w="1828800"/>
                <a:gridCol w="1828800"/>
              </a:tblGrid>
              <a:tr h="65314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AA16"/>
                          </a:solidFill>
                        </a:defRPr>
                      </a:pPr>
                      <a:r>
                        <a:t>Platform Feature / Module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AA16"/>
                          </a:solidFill>
                        </a:defRPr>
                      </a:pPr>
                      <a:r>
                        <a:t>Admin (admin)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AA16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AA16"/>
                          </a:solidFill>
                        </a:defRPr>
                      </a:pPr>
                      <a:r>
                        <a:t>Worker (worker)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AA16"/>
                          </a:solidFill>
                        </a:defRPr>
                      </a:pPr>
                      <a:r>
                        <a:t>Client (client)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User Administration &amp; Document Verification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CC71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74C3C"/>
                          </a:solidFill>
                        </a:defRPr>
                      </a:pPr>
                      <a:r>
                        <a:t>BLOCKED (403)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74C3C"/>
                          </a:solidFill>
                        </a:defRPr>
                      </a:pPr>
                      <a:r>
                        <a:t>BLOCKED (403)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74C3C"/>
                          </a:solidFill>
                        </a:defRPr>
                      </a:pPr>
                      <a:r>
                        <a:t>BLOCKED (403)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Project Creation, Milestones &amp; Jobs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OVERVIEW ONLY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CC71"/>
                          </a:solidFill>
                        </a:defRPr>
                      </a:pPr>
                      <a:r>
                        <a:t>FULL (OWNED)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ASSIGNED ONLY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ASSIGNED ONLY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Job Applications &amp; Worker Hiring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OVERVIEW ONLY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HIRE APPLICANTS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CC71"/>
                          </a:solidFill>
                        </a:defRPr>
                      </a:pPr>
                      <a:r>
                        <a:t>APPLY FOR JOBS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74C3C"/>
                          </a:solidFill>
                        </a:defRPr>
                      </a:pPr>
                      <a:r>
                        <a:t>BLOCKED (403)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Dynamic QR Attendance Sessions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MONITOR ALL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CC71"/>
                          </a:solidFill>
                        </a:defRPr>
                      </a:pPr>
                      <a:r>
                        <a:t>GENERATE SESSION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SCAN CHECK-IN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74C3C"/>
                          </a:solidFill>
                        </a:defRPr>
                      </a:pPr>
                      <a:r>
                        <a:t>BLOCKED (403)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Digital Contracts &amp; Signatures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OVERVIEW ONLY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ISSUE &amp; SIGN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REVIEW &amp; SIGN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VIEW LINKED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Dual Booking Engine (Mode A &amp; Mode B)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INSPECT &amp; CANCEL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BID ON QUOTES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DISPATCH &amp; QUOTE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CC71"/>
                          </a:solidFill>
                        </a:defRPr>
                      </a:pPr>
                      <a:r>
                        <a:t>POST &amp; ACCEPT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AA16"/>
                </a:solidFill>
              </a:defRPr>
            </a:pPr>
            <a:r>
              <a:t>VERIFIED OPERATIONAL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Main Modules &amp; Core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2D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EC0"/>
                </a:solidFill>
              </a:defRPr>
            </a:pPr>
            <a:r>
              <a:t>09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Workflow 1: Dual Booking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FFAA16"/>
                </a:solidFill>
              </a:defRPr>
            </a:pPr>
            <a:r>
              <a:t>⚡ Mode A: Instant Booking (Emergency):</a:t>
            </a:r>
          </a:p>
          <a:p>
            <a:pPr>
              <a:spcAft>
                <a:spcPts val="600"/>
              </a:spcAft>
              <a:defRPr sz="1000">
                <a:solidFill>
                  <a:srgbClr val="A0AEC0"/>
                </a:solidFill>
              </a:defRPr>
            </a:pPr>
            <a:r>
              <a:t>Client specifies trade, coordinates, urgency, budget. Haversine query finds matching workers within 5–10 km.</a:t>
            </a:r>
          </a:p>
          <a:p>
            <a:pPr>
              <a:defRPr sz="1200" b="1">
                <a:solidFill>
                  <a:srgbClr val="FFAA16"/>
                </a:solidFill>
              </a:defRPr>
            </a:pPr>
            <a:r>
              <a:t>⚡ Concurrency-Safe Worker Claim:</a:t>
            </a:r>
          </a:p>
          <a:p>
            <a:pPr>
              <a:spcAft>
                <a:spcPts val="600"/>
              </a:spcAft>
              <a:defRPr sz="1000">
                <a:solidFill>
                  <a:srgbClr val="A0AEC0"/>
                </a:solidFill>
              </a:defRPr>
            </a:pPr>
            <a:r>
              <a:t>Worker clicks accept; server acquires exclusive row lock (SELECT ... FOR UPDATE) to prevent race conditions and double-bookings.</a:t>
            </a:r>
          </a:p>
          <a:p>
            <a:pPr>
              <a:defRPr sz="1200" b="1">
                <a:solidFill>
                  <a:srgbClr val="FFAA16"/>
                </a:solidFill>
              </a:defRPr>
            </a:pPr>
            <a:r>
              <a:t>⚡ Mode B: Compare Quotes (Projects):</a:t>
            </a:r>
          </a:p>
          <a:p>
            <a:pPr>
              <a:spcAft>
                <a:spcPts val="600"/>
              </a:spcAft>
              <a:defRPr sz="1000">
                <a:solidFill>
                  <a:srgbClr val="A0AEC0"/>
                </a:solidFill>
              </a:defRPr>
            </a:pPr>
            <a:r>
              <a:t>Client posts scope; contractors and workers submit itemized bids with price, scope, exclusions, and duration estimates.</a:t>
            </a:r>
          </a:p>
          <a:p>
            <a:pPr>
              <a:defRPr sz="1200" b="1">
                <a:solidFill>
                  <a:srgbClr val="FFAA16"/>
                </a:solidFill>
              </a:defRPr>
            </a:pPr>
            <a:r>
              <a:t>⚡ Atomic Bid Selection:</a:t>
            </a:r>
          </a:p>
          <a:p>
            <a:pPr>
              <a:spcAft>
                <a:spcPts val="600"/>
              </a:spcAft>
              <a:defRPr sz="1000">
                <a:solidFill>
                  <a:srgbClr val="A0AEC0"/>
                </a:solidFill>
              </a:defRPr>
            </a:pPr>
            <a:r>
              <a:t>Client accepts optimal quote; system marks competing bids as rejected and synchronizes project records atomically.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645920"/>
            <a:ext cx="5120640" cy="457200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8135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Workflow 2: Site Attendance &amp; Contracts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22860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FFAA16"/>
                </a:solidFill>
              </a:defRPr>
            </a:pPr>
            <a:r>
              <a:t>📄 Tokenized QR Session Generator:</a:t>
            </a:r>
          </a:p>
          <a:p>
            <a:pPr>
              <a:spcAft>
                <a:spcPts val="600"/>
              </a:spcAft>
              <a:defRPr sz="1000">
                <a:solidFill>
                  <a:srgbClr val="A0AEC0"/>
                </a:solidFill>
              </a:defRPr>
            </a:pPr>
            <a:r>
              <a:t>Contractor generates daily project QR session with 64-char cryptographic token (BC-PROJ-...) and expiry timestamp.</a:t>
            </a:r>
          </a:p>
          <a:p>
            <a:pPr>
              <a:defRPr sz="1200" b="1">
                <a:solidFill>
                  <a:srgbClr val="FFAA16"/>
                </a:solidFill>
              </a:defRPr>
            </a:pPr>
            <a:r>
              <a:t>📄 Mobile QR Attendance Scan:</a:t>
            </a:r>
          </a:p>
          <a:p>
            <a:pPr>
              <a:spcAft>
                <a:spcPts val="600"/>
              </a:spcAft>
              <a:defRPr sz="1000">
                <a:solidFill>
                  <a:srgbClr val="A0AEC0"/>
                </a:solidFill>
              </a:defRPr>
            </a:pPr>
            <a:r>
              <a:t>Worker scans site QR code or inputs token; server verifies project membership and records verified_by_qr = 1.</a:t>
            </a:r>
          </a:p>
          <a:p>
            <a:pPr>
              <a:defRPr sz="1200" b="1">
                <a:solidFill>
                  <a:srgbClr val="FFAA16"/>
                </a:solidFill>
              </a:defRPr>
            </a:pPr>
            <a:r>
              <a:t>📄 Automatic Hours Calculation:</a:t>
            </a:r>
          </a:p>
          <a:p>
            <a:pPr>
              <a:spcAft>
                <a:spcPts val="600"/>
              </a:spcAft>
              <a:defRPr sz="1000">
                <a:solidFill>
                  <a:srgbClr val="A0AEC0"/>
                </a:solidFill>
              </a:defRPr>
            </a:pPr>
            <a:r>
              <a:t>Second scan at shift conclusion logs check_out_time and automatically calculates exact hours worked.</a:t>
            </a:r>
          </a:p>
          <a:p>
            <a:pPr>
              <a:defRPr sz="1200" b="1">
                <a:solidFill>
                  <a:srgbClr val="FFAA16"/>
                </a:solidFill>
              </a:defRPr>
            </a:pPr>
            <a:r>
              <a:t>📄 Digital Contracts &amp; E-Signatures:</a:t>
            </a:r>
          </a:p>
          <a:p>
            <a:pPr>
              <a:spcAft>
                <a:spcPts val="600"/>
              </a:spcAft>
              <a:defRPr sz="1000">
                <a:solidFill>
                  <a:srgbClr val="A0AEC0"/>
                </a:solidFill>
              </a:defRPr>
            </a:pPr>
            <a:r>
              <a:t>Contractors issue contracts specifying hourly/daily rates and terms; workers review and sign with audit timestamps.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AA16"/>
                </a:solidFill>
              </a:defRPr>
            </a:pPr>
            <a:r>
              <a:t>NORMALIZED RELATIONAL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Database Design: 29 Relational 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2D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EC0"/>
                </a:solidFill>
              </a:defRPr>
            </a:pPr>
            <a:r>
              <a:t>10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57800" cy="137160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Identity &amp; Profiles (4 Tables)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Tables: users, workers, contractors, clients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Enforces 1:1 user profile extension via user_id foreign key with UNIQUE constraint. Stores credentials, trade titles, licenses, and ratings.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5257800" cy="137160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Skills &amp; Documents (4 Tables)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4892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Tables: skills, worker_skills, worker_experience, worker_documents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Master trade skill dictionary (27 skills) linked via junction table. Document upload tracking with verification status flags.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5257800" cy="137160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3756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Projects &amp; Tasks (5 Tables)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4892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Tables: projects, project_members, milestones, tasks, project_documents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Core construction lifecycle. Geolocation coordinates (lat/lng), budgets, milestones with progress %, and workforce task delegation.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154680"/>
            <a:ext cx="5257800" cy="137160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Job Marketplace (2 Tables)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657600"/>
            <a:ext cx="4892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Tables: jobs, job_applications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Project-linked job postings with trade requirements, pay rates, spots available, and candidate application pipeline with match scores.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63440"/>
            <a:ext cx="5257800" cy="137160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84632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Attendance &amp; Contracts (4 Tables)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66360"/>
            <a:ext cx="4892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Tables: attendance_sessions, attendance, contracts, payments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QR session tokens, timestamped daily check-ins (hours_worked), formal contracts with dual signatures, and milestone disbursement logs.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663440"/>
            <a:ext cx="5257800" cy="137160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84632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Dual Booking &amp; Feedback (10 Tables)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166360"/>
            <a:ext cx="4892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Tables: bookings, booking_quotes, reviews, review_reports, notifications, messages, push_subscriptions, activity_logs, ai_match_results, ai_usage_logs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Mode A instant dispatch, Mode B quotes, 2-way star reviews, role-routed alerts, immutable audit logs, and AI evaluation cache.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AA16"/>
                </a:solidFill>
              </a:defRPr>
            </a:pPr>
            <a:r>
              <a:t>DARK NAVY &amp; AMBER INDUSTRIAL AESTHETIC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Application Interface &amp; UI Design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2D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EC0"/>
                </a:solidFill>
              </a:defRPr>
            </a:pPr>
            <a:r>
              <a:t>11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57800" cy="210312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Executive Admin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800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Primary Route: admin/index.php</a:t>
            </a:r>
          </a:p>
          <a:p>
            <a:pPr>
              <a:spcAft>
                <a:spcPts val="200"/>
              </a:spcAft>
              <a:defRPr sz="1000">
                <a:solidFill>
                  <a:srgbClr val="A0AEC0"/>
                </a:solidFill>
              </a:defRPr>
            </a:pPr>
            <a:r>
              <a:t>• Real-time system KPI counter cards</a:t>
            </a:r>
          </a:p>
          <a:p>
            <a:pPr>
              <a:spcAft>
                <a:spcPts val="200"/>
              </a:spcAft>
              <a:defRPr sz="1000">
                <a:solidFill>
                  <a:srgbClr val="A0AEC0"/>
                </a:solidFill>
              </a:defRPr>
            </a:pPr>
            <a:r>
              <a:t>• Document verification approval queue</a:t>
            </a:r>
          </a:p>
          <a:p>
            <a:pPr>
              <a:spcAft>
                <a:spcPts val="200"/>
              </a:spcAft>
              <a:defRPr sz="1000">
                <a:solidFill>
                  <a:srgbClr val="A0AEC0"/>
                </a:solidFill>
              </a:defRPr>
            </a:pPr>
            <a:r>
              <a:t>• Global site attendance and project monitoring</a:t>
            </a:r>
          </a:p>
          <a:p>
            <a:pPr>
              <a:spcAft>
                <a:spcPts val="200"/>
              </a:spcAft>
              <a:defRPr sz="1000">
                <a:solidFill>
                  <a:srgbClr val="A0AEC0"/>
                </a:solidFill>
              </a:defRPr>
            </a:pPr>
            <a:r>
              <a:t>• Recent user registration oversight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5257800" cy="210312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Contractor Command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4800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Primary Route: contractor/index.php</a:t>
            </a:r>
          </a:p>
          <a:p>
            <a:pPr>
              <a:spcAft>
                <a:spcPts val="200"/>
              </a:spcAft>
              <a:defRPr sz="1000">
                <a:solidFill>
                  <a:srgbClr val="A0AEC0"/>
                </a:solidFill>
              </a:defRPr>
            </a:pPr>
            <a:r>
              <a:t>• Active project milestone progress charts</a:t>
            </a:r>
          </a:p>
          <a:p>
            <a:pPr>
              <a:spcAft>
                <a:spcPts val="200"/>
              </a:spcAft>
              <a:defRPr sz="1000">
                <a:solidFill>
                  <a:srgbClr val="A0AEC0"/>
                </a:solidFill>
              </a:defRPr>
            </a:pPr>
            <a:r>
              <a:t>• Candidate applications with AI match scores</a:t>
            </a:r>
          </a:p>
          <a:p>
            <a:pPr>
              <a:spcAft>
                <a:spcPts val="200"/>
              </a:spcAft>
              <a:defRPr sz="1000">
                <a:solidFill>
                  <a:srgbClr val="A0AEC0"/>
                </a:solidFill>
              </a:defRPr>
            </a:pPr>
            <a:r>
              <a:t>• Dynamic QR attendance generator modal</a:t>
            </a:r>
          </a:p>
          <a:p>
            <a:pPr>
              <a:spcAft>
                <a:spcPts val="200"/>
              </a:spcAft>
              <a:defRPr sz="1000">
                <a:solidFill>
                  <a:srgbClr val="A0AEC0"/>
                </a:solidFill>
              </a:defRPr>
            </a:pPr>
            <a:r>
              <a:t>• Digital contract drafting and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57800" cy="210312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Worker Professional 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26280"/>
            <a:ext cx="4800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Primary Route: worker/index.php</a:t>
            </a:r>
          </a:p>
          <a:p>
            <a:pPr>
              <a:spcAft>
                <a:spcPts val="200"/>
              </a:spcAft>
              <a:defRPr sz="1000">
                <a:solidFill>
                  <a:srgbClr val="A0AEC0"/>
                </a:solidFill>
              </a:defRPr>
            </a:pPr>
            <a:r>
              <a:t>• Trade skill tags &amp; verified credentials badge</a:t>
            </a:r>
          </a:p>
          <a:p>
            <a:pPr>
              <a:spcAft>
                <a:spcPts val="200"/>
              </a:spcAft>
              <a:defRPr sz="1000">
                <a:solidFill>
                  <a:srgbClr val="A0AEC0"/>
                </a:solidFill>
              </a:defRPr>
            </a:pPr>
            <a:r>
              <a:t>• Mobile QR check-in &amp; check-out scanner</a:t>
            </a:r>
          </a:p>
          <a:p>
            <a:pPr>
              <a:spcAft>
                <a:spcPts val="200"/>
              </a:spcAft>
              <a:defRPr sz="1000">
                <a:solidFill>
                  <a:srgbClr val="A0AEC0"/>
                </a:solidFill>
              </a:defRPr>
            </a:pPr>
            <a:r>
              <a:t>• Nearby Mode A instant dispatch notifications</a:t>
            </a:r>
          </a:p>
          <a:p>
            <a:pPr>
              <a:spcAft>
                <a:spcPts val="200"/>
              </a:spcAft>
              <a:defRPr sz="1000">
                <a:solidFill>
                  <a:srgbClr val="A0AEC0"/>
                </a:solidFill>
              </a:defRPr>
            </a:pPr>
            <a:r>
              <a:t>• Total hours worked and earnings calculator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31920"/>
            <a:ext cx="5257800" cy="210312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1480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Client Project &amp; Booking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26280"/>
            <a:ext cx="4800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Primary Route: client/booking-details.php</a:t>
            </a:r>
          </a:p>
          <a:p>
            <a:pPr>
              <a:spcAft>
                <a:spcPts val="200"/>
              </a:spcAft>
              <a:defRPr sz="1000">
                <a:solidFill>
                  <a:srgbClr val="A0AEC0"/>
                </a:solidFill>
              </a:defRPr>
            </a:pPr>
            <a:r>
              <a:t>• Instant Booking dispatch status timeline</a:t>
            </a:r>
          </a:p>
          <a:p>
            <a:pPr>
              <a:spcAft>
                <a:spcPts val="200"/>
              </a:spcAft>
              <a:defRPr sz="1000">
                <a:solidFill>
                  <a:srgbClr val="A0AEC0"/>
                </a:solidFill>
              </a:defRPr>
            </a:pPr>
            <a:r>
              <a:t>• Multi-provider competitive quote comparison matrix</a:t>
            </a:r>
          </a:p>
          <a:p>
            <a:pPr>
              <a:spcAft>
                <a:spcPts val="200"/>
              </a:spcAft>
              <a:defRPr sz="1000">
                <a:solidFill>
                  <a:srgbClr val="A0AEC0"/>
                </a:solidFill>
              </a:defRPr>
            </a:pPr>
            <a:r>
              <a:t>• Milestone completion approval and provider ratings</a:t>
            </a:r>
          </a:p>
          <a:p>
            <a:pPr>
              <a:spcAft>
                <a:spcPts val="200"/>
              </a:spcAft>
              <a:defRPr sz="1000">
                <a:solidFill>
                  <a:srgbClr val="A0AEC0"/>
                </a:solidFill>
              </a:defRPr>
            </a:pPr>
            <a:r>
              <a:t>• Interactive Leaflet.js location coordinates 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AA16"/>
                </a:solidFill>
              </a:defRPr>
            </a:pPr>
            <a:r>
              <a:t>AUTOMATED TEST SUITE EXECUTION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Testing &amp; Verification: 100% Pass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2D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EC0"/>
                </a:solidFill>
              </a:defRPr>
            </a:pPr>
            <a:r>
              <a:t>12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192024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2ECC71"/>
                </a:solidFill>
              </a:defRPr>
            </a:pPr>
            <a:r>
              <a:t>209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TOTAL AUTOMATED TESTS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All unit, integration, and HTTP tests executed with zero failures.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60320" cy="192024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73736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2ECC71"/>
                </a:solidFill>
              </a:defRPr>
            </a:pPr>
            <a:r>
              <a:t>134 / 134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PHP SYNTAX LINTED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100% of production scripts verified with zero parse errors.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60320" cy="192024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73736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2ECC71"/>
                </a:solidFill>
              </a:defRPr>
            </a:pPr>
            <a:r>
              <a:t>24 / 24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LIVE HTTP RBAC TESTS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Authenticated sessions tested for all 4 roles + guest; 403 on violations.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645920"/>
            <a:ext cx="2560320" cy="192024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173736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2ECC71"/>
                </a:solidFill>
              </a:defRPr>
            </a:pPr>
            <a:r>
              <a:t>14 / 14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DUAL BOOKING E2E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Haversine geometry, atomic row locks (FOR UPDATE), and quotes verified.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3840480"/>
          <a:ext cx="1072865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7855"/>
                <a:gridCol w="2286000"/>
                <a:gridCol w="2286000"/>
                <a:gridCol w="1828800"/>
              </a:tblGrid>
              <a:tr h="49377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AA16"/>
                          </a:solidFill>
                        </a:defRPr>
                      </a:pPr>
                      <a:r>
                        <a:t>Verification Suite Description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AA16"/>
                          </a:solidFill>
                        </a:defRPr>
                      </a:pPr>
                      <a:r>
                        <a:t>Test Script / Command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AA16"/>
                          </a:solidFill>
                        </a:defRPr>
                      </a:pPr>
                      <a:r>
                        <a:t>Tests Passed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AA16"/>
                          </a:solidFill>
                        </a:defRPr>
                      </a:pPr>
                      <a:r>
                        <a:t>Result Status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Live Authenticated HTTP Access Control Suite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test_live_access_denied_suite.php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24 / 24 Passed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CC71"/>
                          </a:solidFill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Dual Booking Engine &amp; Concurrency Lock Suite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test_dual_booking_system.php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14 / 14 Passed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CC71"/>
                          </a:solidFill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RBAC URL Normalization &amp; Link Guard Suite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verify_access_denied_fixes.php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14 / 14 Passed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CC71"/>
                          </a:solidFill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14203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Primary Demo Account Verification Suite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verify_presentation_accounts.php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 / 9 Passed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CC71"/>
                          </a:solidFill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1C2C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AA16"/>
                </a:solidFill>
              </a:defRPr>
            </a:pPr>
            <a:r>
              <a:t>TRANSPARENT ENGINEERING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Limitations &amp; Technical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2D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EC0"/>
                </a:solidFill>
              </a:defRPr>
            </a:pPr>
            <a:r>
              <a:t>13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AA16"/>
                </a:solidFill>
              </a:defRPr>
            </a:pPr>
            <a:r>
              <a:t>1. Browser Camera Scanning Limitations (Hardware Access Boundary)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Web-based QR scanning depends on browser HTML5 camera access or manual token entry. On low-end mobile browsers or restricted device permissions, users may need to enter the 64-character session code manually.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10728655" cy="105156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AA16"/>
                </a:solidFill>
              </a:defRPr>
            </a:pPr>
            <a:r>
              <a:t>2. Milestone Disbursement Logging vs. Live Payment Gateway (Financial Architecture Scope)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The payments subsystem currently records milestone disbursement records and direct transfer logs. Live automated escrow holding and webhook disbursement (e.g. Razorpay Route / Stripe Connect) is planned for Phase 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4164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AA16"/>
                </a:solidFill>
              </a:defRPr>
            </a:pPr>
            <a:r>
              <a:t>3. Notification Polling vs. WebSockets (Real-Time Communication Boundary)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In-app alerts and status transitions refresh upon page navigation or scheduled HTTP polling rather than persistent full-duplex bi-directional WebSockets (e.g. Ratchet / Socket.IO).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74920"/>
            <a:ext cx="10728655" cy="1051560"/>
          </a:xfrm>
          <a:prstGeom prst="roundRect">
            <a:avLst/>
          </a:prstGeom>
          <a:solidFill>
            <a:srgbClr val="1C2C4A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8464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AA16"/>
                </a:solidFill>
              </a:defRPr>
            </a:pPr>
            <a:r>
              <a:t>4. Direct Peer-to-Peer Messaging (Feature Scope Definition)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The database schema provisions a messages table; in the current release, communication is effectively conducted via task comments, notification alerts, contract terms, and review feedback.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AA16"/>
                </a:solidFill>
              </a:defRPr>
            </a:pPr>
            <a:r>
              <a:t>STRATEGIC ROADMAP FOR PRODUCTION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Enhancements &amp; Phased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2D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A0AEC0"/>
                </a:solidFill>
              </a:defRPr>
            </a:pPr>
            <a:r>
              <a:t>14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Phase 1: Core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ECC71"/>
                </a:solidFill>
              </a:defRPr>
            </a:pPr>
            <a:r>
              <a:t>COMPLETED &amp; VERIFIED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Native PHP 8.x + MySQL 8.0 core architecture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Strict 4-role RBAC with HTTP 403 containment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Dual Booking Engine (Mode A &amp; Mode B)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Dynamic QR Site Attendance System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Digital Contracts with Electronic Signatures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27-Trade Skill Matrix &amp; Document Queue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100% Test Pass Rate (209/209 tests)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Phase 2: Mobile &amp; Real-Time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9456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FFFF"/>
                </a:solidFill>
              </a:defRPr>
            </a:pPr>
            <a:r>
              <a:t>NEAR-TERM ROADMAP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Native mobile apps via React Native / Flutter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Automated Escrow Payment Gateway (Razorpay/Stripe)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Full-duplex WebSockets for real-time messaging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GPS Geofenced Attendance validation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  (Worker must be within 50m of site coordinates)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Push notifications via W3C Service Workers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142036"/>
          </a:solidFill>
          <a:ln w="19050">
            <a:solidFill>
              <a:srgbClr val="2D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AA16"/>
                </a:solidFill>
              </a:defRPr>
            </a:pPr>
            <a:r>
              <a:t>Phase 3: AI &amp;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19456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FFFFF"/>
                </a:solidFill>
              </a:defRPr>
            </a:pPr>
            <a:r>
              <a:t>LONG-TERM VISION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Computer Vision / OCR automated scanning of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  trade licenses and government identity cards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Biometric facial recognition check-in turnstiles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Automated material supply chain prediction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Subcontractor safety compliance monitoring</a:t>
            </a:r>
          </a:p>
          <a:p>
            <a:pPr>
              <a:spcAft>
                <a:spcPts val="400"/>
              </a:spcAft>
              <a:defRPr sz="1000">
                <a:solidFill>
                  <a:srgbClr val="A0AEC0"/>
                </a:solidFill>
              </a:defRPr>
            </a:pPr>
            <a:r>
              <a:t>• Multi-lingual voice interface for trade labor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FFA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AA16"/>
                </a:solidFill>
              </a:defRPr>
            </a:pPr>
            <a:r>
              <a:t>CONCLUSION &amp; PROJECT SUBMISSION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BuildConnect: Transforming Construction Management</a:t>
            </a:r>
          </a:p>
          <a:p>
            <a:pPr>
              <a:spcAft>
                <a:spcPts val="2800"/>
              </a:spcAft>
              <a:defRPr sz="1400">
                <a:solidFill>
                  <a:srgbClr val="A0AEC0"/>
                </a:solidFill>
              </a:defRPr>
            </a:pPr>
            <a:r>
              <a:t>By unifying verified trade labor, fraud-proof QR site attendance, digital contract signing, and dual-mode service booking into a high-trust digital ecosystem, BuildConnect solves the foundational operational bottlenecks of modern infrastructure development.</a:t>
            </a:r>
          </a:p>
          <a:p>
            <a:pPr>
              <a:defRPr sz="2400" b="1">
                <a:solidFill>
                  <a:srgbClr val="FFCC66"/>
                </a:solidFill>
              </a:defRPr>
            </a:pPr>
            <a:r>
              <a:t>Thank You! | Open for Viva Voce &amp;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